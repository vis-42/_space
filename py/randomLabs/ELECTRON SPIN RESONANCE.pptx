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35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oleObject" Target="file:///C:\physics%20labs\ELECTRON%20SPIN%20RESONANCE%20data%20anal.xls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20206657483149379"/>
          <c:y val="9.301845081864768E-2"/>
          <c:w val="0.7476190278326027"/>
          <c:h val="0.77917135358080247"/>
        </c:manualLayout>
      </c:layout>
      <c:lineChart>
        <c:grouping val="standard"/>
        <c:varyColors val="0"/>
        <c:ser>
          <c:idx val="1"/>
          <c:order val="1"/>
          <c:tx>
            <c:v>model</c:v>
          </c:tx>
          <c:marker>
            <c:symbol val="none"/>
          </c:marker>
          <c:cat>
            <c:numRef>
              <c:f>'ELECTRON SPIN RESONANCE'!$A$4:$A$90</c:f>
              <c:numCache>
                <c:formatCode>General</c:formatCode>
                <c:ptCount val="87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  <c:pt idx="48">
                  <c:v>48</c:v>
                </c:pt>
                <c:pt idx="49">
                  <c:v>49</c:v>
                </c:pt>
                <c:pt idx="50">
                  <c:v>50</c:v>
                </c:pt>
                <c:pt idx="51">
                  <c:v>51</c:v>
                </c:pt>
                <c:pt idx="52">
                  <c:v>52</c:v>
                </c:pt>
                <c:pt idx="53">
                  <c:v>53</c:v>
                </c:pt>
                <c:pt idx="54">
                  <c:v>54</c:v>
                </c:pt>
                <c:pt idx="55">
                  <c:v>55</c:v>
                </c:pt>
                <c:pt idx="56">
                  <c:v>56</c:v>
                </c:pt>
                <c:pt idx="57">
                  <c:v>57</c:v>
                </c:pt>
                <c:pt idx="58">
                  <c:v>58</c:v>
                </c:pt>
                <c:pt idx="59">
                  <c:v>59</c:v>
                </c:pt>
                <c:pt idx="60">
                  <c:v>60</c:v>
                </c:pt>
                <c:pt idx="61">
                  <c:v>61</c:v>
                </c:pt>
                <c:pt idx="62">
                  <c:v>62</c:v>
                </c:pt>
                <c:pt idx="63">
                  <c:v>63</c:v>
                </c:pt>
                <c:pt idx="64">
                  <c:v>64</c:v>
                </c:pt>
                <c:pt idx="65">
                  <c:v>65</c:v>
                </c:pt>
                <c:pt idx="66">
                  <c:v>66</c:v>
                </c:pt>
                <c:pt idx="67">
                  <c:v>67</c:v>
                </c:pt>
                <c:pt idx="68">
                  <c:v>68</c:v>
                </c:pt>
                <c:pt idx="69">
                  <c:v>69</c:v>
                </c:pt>
                <c:pt idx="70">
                  <c:v>70</c:v>
                </c:pt>
                <c:pt idx="71">
                  <c:v>71</c:v>
                </c:pt>
                <c:pt idx="72">
                  <c:v>72</c:v>
                </c:pt>
                <c:pt idx="73">
                  <c:v>73</c:v>
                </c:pt>
                <c:pt idx="74">
                  <c:v>74</c:v>
                </c:pt>
                <c:pt idx="75">
                  <c:v>75</c:v>
                </c:pt>
                <c:pt idx="76">
                  <c:v>76</c:v>
                </c:pt>
                <c:pt idx="77">
                  <c:v>77</c:v>
                </c:pt>
                <c:pt idx="78">
                  <c:v>78</c:v>
                </c:pt>
                <c:pt idx="79">
                  <c:v>79</c:v>
                </c:pt>
                <c:pt idx="80">
                  <c:v>80</c:v>
                </c:pt>
                <c:pt idx="81">
                  <c:v>81</c:v>
                </c:pt>
                <c:pt idx="82">
                  <c:v>82</c:v>
                </c:pt>
                <c:pt idx="83">
                  <c:v>83</c:v>
                </c:pt>
                <c:pt idx="84">
                  <c:v>84</c:v>
                </c:pt>
                <c:pt idx="85">
                  <c:v>85</c:v>
                </c:pt>
                <c:pt idx="86">
                  <c:v>86</c:v>
                </c:pt>
              </c:numCache>
            </c:numRef>
          </c:cat>
          <c:val>
            <c:numRef>
              <c:f>'ELECTRON SPIN RESONANCE'!$F$4:$F$90</c:f>
              <c:numCache>
                <c:formatCode>0.00E+00</c:formatCode>
                <c:ptCount val="87"/>
                <c:pt idx="0">
                  <c:v>0</c:v>
                </c:pt>
                <c:pt idx="1">
                  <c:v>3.8364852975498617E-5</c:v>
                </c:pt>
                <c:pt idx="2">
                  <c:v>7.6729705950997234E-5</c:v>
                </c:pt>
                <c:pt idx="3">
                  <c:v>1.1509455892649584E-4</c:v>
                </c:pt>
                <c:pt idx="4">
                  <c:v>1.5345941190199447E-4</c:v>
                </c:pt>
                <c:pt idx="5">
                  <c:v>1.9182426487749309E-4</c:v>
                </c:pt>
                <c:pt idx="6">
                  <c:v>2.3018911785299169E-4</c:v>
                </c:pt>
                <c:pt idx="7">
                  <c:v>2.6855397082849034E-4</c:v>
                </c:pt>
                <c:pt idx="8">
                  <c:v>3.0691882380398894E-4</c:v>
                </c:pt>
                <c:pt idx="9">
                  <c:v>3.4528367677948753E-4</c:v>
                </c:pt>
                <c:pt idx="10">
                  <c:v>3.8364852975498619E-4</c:v>
                </c:pt>
                <c:pt idx="11">
                  <c:v>4.2201338273048478E-4</c:v>
                </c:pt>
                <c:pt idx="12">
                  <c:v>4.6037823570598338E-4</c:v>
                </c:pt>
                <c:pt idx="13">
                  <c:v>4.9874308868148203E-4</c:v>
                </c:pt>
                <c:pt idx="14">
                  <c:v>5.3710794165698068E-4</c:v>
                </c:pt>
                <c:pt idx="15">
                  <c:v>5.7547279463247922E-4</c:v>
                </c:pt>
                <c:pt idx="16">
                  <c:v>6.1383764760797788E-4</c:v>
                </c:pt>
                <c:pt idx="17">
                  <c:v>6.5220250058347653E-4</c:v>
                </c:pt>
                <c:pt idx="18">
                  <c:v>6.9056735355897507E-4</c:v>
                </c:pt>
                <c:pt idx="19">
                  <c:v>7.2893220653447372E-4</c:v>
                </c:pt>
                <c:pt idx="20">
                  <c:v>7.6729705950997237E-4</c:v>
                </c:pt>
                <c:pt idx="21">
                  <c:v>8.0566191248547091E-4</c:v>
                </c:pt>
                <c:pt idx="22">
                  <c:v>8.4402676546096957E-4</c:v>
                </c:pt>
                <c:pt idx="23">
                  <c:v>8.8239161843646822E-4</c:v>
                </c:pt>
                <c:pt idx="24">
                  <c:v>9.2075647141196676E-4</c:v>
                </c:pt>
                <c:pt idx="25">
                  <c:v>9.5912132438746541E-4</c:v>
                </c:pt>
                <c:pt idx="26">
                  <c:v>9.9748617736296406E-4</c:v>
                </c:pt>
                <c:pt idx="27">
                  <c:v>1.0358510303384628E-3</c:v>
                </c:pt>
                <c:pt idx="28">
                  <c:v>1.0742158833139614E-3</c:v>
                </c:pt>
                <c:pt idx="29">
                  <c:v>1.1125807362894599E-3</c:v>
                </c:pt>
                <c:pt idx="30">
                  <c:v>1.1509455892649584E-3</c:v>
                </c:pt>
                <c:pt idx="31">
                  <c:v>1.1893104422404572E-3</c:v>
                </c:pt>
                <c:pt idx="32">
                  <c:v>1.2276752952159558E-3</c:v>
                </c:pt>
                <c:pt idx="33">
                  <c:v>1.2660401481914545E-3</c:v>
                </c:pt>
                <c:pt idx="34">
                  <c:v>1.3044050011669531E-3</c:v>
                </c:pt>
                <c:pt idx="35">
                  <c:v>1.3427698541424518E-3</c:v>
                </c:pt>
                <c:pt idx="36">
                  <c:v>1.3811347071179501E-3</c:v>
                </c:pt>
                <c:pt idx="37">
                  <c:v>1.4194995600934489E-3</c:v>
                </c:pt>
                <c:pt idx="38">
                  <c:v>1.4578644130689474E-3</c:v>
                </c:pt>
                <c:pt idx="39">
                  <c:v>1.4962292660444462E-3</c:v>
                </c:pt>
                <c:pt idx="40">
                  <c:v>1.5345941190199447E-3</c:v>
                </c:pt>
                <c:pt idx="41">
                  <c:v>1.5729589719954435E-3</c:v>
                </c:pt>
                <c:pt idx="42">
                  <c:v>1.6113238249709418E-3</c:v>
                </c:pt>
                <c:pt idx="43">
                  <c:v>1.6496886779464406E-3</c:v>
                </c:pt>
                <c:pt idx="44">
                  <c:v>1.6880535309219391E-3</c:v>
                </c:pt>
                <c:pt idx="45">
                  <c:v>1.7264183838974379E-3</c:v>
                </c:pt>
                <c:pt idx="46">
                  <c:v>1.7647832368729364E-3</c:v>
                </c:pt>
                <c:pt idx="47">
                  <c:v>1.8031480898484352E-3</c:v>
                </c:pt>
                <c:pt idx="48">
                  <c:v>1.8415129428239335E-3</c:v>
                </c:pt>
                <c:pt idx="49">
                  <c:v>1.8798777957994323E-3</c:v>
                </c:pt>
                <c:pt idx="50">
                  <c:v>1.9182426487749308E-3</c:v>
                </c:pt>
                <c:pt idx="51">
                  <c:v>1.9566075017504294E-3</c:v>
                </c:pt>
                <c:pt idx="52">
                  <c:v>1.9949723547259281E-3</c:v>
                </c:pt>
                <c:pt idx="53">
                  <c:v>2.0333372077014269E-3</c:v>
                </c:pt>
                <c:pt idx="54">
                  <c:v>2.0717020606769256E-3</c:v>
                </c:pt>
                <c:pt idx="55">
                  <c:v>2.110066913652424E-3</c:v>
                </c:pt>
                <c:pt idx="56">
                  <c:v>2.1484317666279227E-3</c:v>
                </c:pt>
                <c:pt idx="57">
                  <c:v>2.1867966196034215E-3</c:v>
                </c:pt>
                <c:pt idx="58">
                  <c:v>2.2251614725789198E-3</c:v>
                </c:pt>
                <c:pt idx="59">
                  <c:v>2.2635263255544181E-3</c:v>
                </c:pt>
                <c:pt idx="60">
                  <c:v>2.3018911785299169E-3</c:v>
                </c:pt>
                <c:pt idx="61">
                  <c:v>2.3402560315054157E-3</c:v>
                </c:pt>
                <c:pt idx="62">
                  <c:v>2.3786208844809144E-3</c:v>
                </c:pt>
                <c:pt idx="63">
                  <c:v>2.4169857374564127E-3</c:v>
                </c:pt>
                <c:pt idx="64">
                  <c:v>2.4553505904319115E-3</c:v>
                </c:pt>
                <c:pt idx="65">
                  <c:v>2.4937154434074103E-3</c:v>
                </c:pt>
                <c:pt idx="66">
                  <c:v>2.532080296382909E-3</c:v>
                </c:pt>
                <c:pt idx="67">
                  <c:v>2.5704451493584073E-3</c:v>
                </c:pt>
                <c:pt idx="68">
                  <c:v>2.6088100023339061E-3</c:v>
                </c:pt>
                <c:pt idx="69">
                  <c:v>2.6471748553094049E-3</c:v>
                </c:pt>
                <c:pt idx="70">
                  <c:v>2.6855397082849036E-3</c:v>
                </c:pt>
                <c:pt idx="71">
                  <c:v>2.7239045612604015E-3</c:v>
                </c:pt>
                <c:pt idx="72">
                  <c:v>2.7622694142359003E-3</c:v>
                </c:pt>
                <c:pt idx="73">
                  <c:v>2.800634267211399E-3</c:v>
                </c:pt>
                <c:pt idx="74">
                  <c:v>2.8389991201868978E-3</c:v>
                </c:pt>
                <c:pt idx="75">
                  <c:v>2.8773639731623961E-3</c:v>
                </c:pt>
                <c:pt idx="76">
                  <c:v>2.9157288261378949E-3</c:v>
                </c:pt>
                <c:pt idx="77">
                  <c:v>2.9540936791133936E-3</c:v>
                </c:pt>
                <c:pt idx="78">
                  <c:v>2.9924585320888924E-3</c:v>
                </c:pt>
                <c:pt idx="79">
                  <c:v>3.0308233850643907E-3</c:v>
                </c:pt>
                <c:pt idx="80">
                  <c:v>3.0691882380398895E-3</c:v>
                </c:pt>
                <c:pt idx="81">
                  <c:v>3.1075530910153882E-3</c:v>
                </c:pt>
                <c:pt idx="82">
                  <c:v>3.145917943990887E-3</c:v>
                </c:pt>
                <c:pt idx="83">
                  <c:v>3.1842827969663853E-3</c:v>
                </c:pt>
                <c:pt idx="84">
                  <c:v>3.2226476499418837E-3</c:v>
                </c:pt>
                <c:pt idx="85">
                  <c:v>3.2610125029173824E-3</c:v>
                </c:pt>
                <c:pt idx="86">
                  <c:v>3.2993773558928812E-3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57D-4FD4-8165-33E490EA29E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968983008"/>
        <c:axId val="1"/>
      </c:lineChart>
      <c:scatterChart>
        <c:scatterStyle val="lineMarker"/>
        <c:varyColors val="0"/>
        <c:ser>
          <c:idx val="0"/>
          <c:order val="0"/>
          <c:tx>
            <c:strRef>
              <c:f>'ELECTRON SPIN RESONANCE'!$C$3</c:f>
              <c:strCache>
                <c:ptCount val="1"/>
                <c:pt idx="0">
                  <c:v>Experiment</c:v>
                </c:pt>
              </c:strCache>
            </c:strRef>
          </c:tx>
          <c:spPr>
            <a:ln w="19050">
              <a:noFill/>
            </a:ln>
          </c:spPr>
          <c:marker>
            <c:symbol val="circle"/>
            <c:size val="8"/>
            <c:spPr>
              <a:solidFill>
                <a:srgbClr val="FF0000"/>
              </a:solidFill>
              <a:ln w="6350">
                <a:noFill/>
              </a:ln>
            </c:spPr>
          </c:marker>
          <c:xVal>
            <c:numRef>
              <c:f>'ELECTRON SPIN RESONANCE'!$A$14:$A$84</c:f>
              <c:numCache>
                <c:formatCode>General</c:formatCode>
                <c:ptCount val="71"/>
                <c:pt idx="0">
                  <c:v>10</c:v>
                </c:pt>
                <c:pt idx="1">
                  <c:v>11</c:v>
                </c:pt>
                <c:pt idx="2">
                  <c:v>12</c:v>
                </c:pt>
                <c:pt idx="3">
                  <c:v>13</c:v>
                </c:pt>
                <c:pt idx="4">
                  <c:v>14</c:v>
                </c:pt>
                <c:pt idx="5">
                  <c:v>15</c:v>
                </c:pt>
                <c:pt idx="6">
                  <c:v>16</c:v>
                </c:pt>
                <c:pt idx="7">
                  <c:v>17</c:v>
                </c:pt>
                <c:pt idx="8">
                  <c:v>18</c:v>
                </c:pt>
                <c:pt idx="9">
                  <c:v>19</c:v>
                </c:pt>
                <c:pt idx="10">
                  <c:v>20</c:v>
                </c:pt>
                <c:pt idx="11">
                  <c:v>21</c:v>
                </c:pt>
                <c:pt idx="12">
                  <c:v>22</c:v>
                </c:pt>
                <c:pt idx="13">
                  <c:v>23</c:v>
                </c:pt>
                <c:pt idx="14">
                  <c:v>24</c:v>
                </c:pt>
                <c:pt idx="15">
                  <c:v>25</c:v>
                </c:pt>
                <c:pt idx="16">
                  <c:v>26</c:v>
                </c:pt>
                <c:pt idx="17">
                  <c:v>27</c:v>
                </c:pt>
                <c:pt idx="18">
                  <c:v>28</c:v>
                </c:pt>
                <c:pt idx="19">
                  <c:v>29</c:v>
                </c:pt>
                <c:pt idx="20">
                  <c:v>30</c:v>
                </c:pt>
                <c:pt idx="21">
                  <c:v>31</c:v>
                </c:pt>
                <c:pt idx="22">
                  <c:v>32</c:v>
                </c:pt>
                <c:pt idx="23">
                  <c:v>33</c:v>
                </c:pt>
                <c:pt idx="24">
                  <c:v>34</c:v>
                </c:pt>
                <c:pt idx="25">
                  <c:v>35</c:v>
                </c:pt>
                <c:pt idx="26">
                  <c:v>36</c:v>
                </c:pt>
                <c:pt idx="27">
                  <c:v>37</c:v>
                </c:pt>
                <c:pt idx="28">
                  <c:v>38</c:v>
                </c:pt>
                <c:pt idx="29">
                  <c:v>39</c:v>
                </c:pt>
                <c:pt idx="30">
                  <c:v>40</c:v>
                </c:pt>
                <c:pt idx="31">
                  <c:v>41</c:v>
                </c:pt>
                <c:pt idx="32">
                  <c:v>42</c:v>
                </c:pt>
                <c:pt idx="33">
                  <c:v>43</c:v>
                </c:pt>
                <c:pt idx="34">
                  <c:v>44</c:v>
                </c:pt>
                <c:pt idx="35">
                  <c:v>45</c:v>
                </c:pt>
                <c:pt idx="36">
                  <c:v>46</c:v>
                </c:pt>
                <c:pt idx="37">
                  <c:v>47</c:v>
                </c:pt>
                <c:pt idx="38">
                  <c:v>48</c:v>
                </c:pt>
                <c:pt idx="39">
                  <c:v>49</c:v>
                </c:pt>
                <c:pt idx="40">
                  <c:v>50</c:v>
                </c:pt>
                <c:pt idx="41">
                  <c:v>51</c:v>
                </c:pt>
                <c:pt idx="42">
                  <c:v>52</c:v>
                </c:pt>
                <c:pt idx="43">
                  <c:v>53</c:v>
                </c:pt>
                <c:pt idx="44">
                  <c:v>54</c:v>
                </c:pt>
                <c:pt idx="45">
                  <c:v>55</c:v>
                </c:pt>
                <c:pt idx="46">
                  <c:v>56</c:v>
                </c:pt>
                <c:pt idx="47">
                  <c:v>57</c:v>
                </c:pt>
                <c:pt idx="48">
                  <c:v>58</c:v>
                </c:pt>
                <c:pt idx="49">
                  <c:v>59</c:v>
                </c:pt>
                <c:pt idx="50">
                  <c:v>60</c:v>
                </c:pt>
                <c:pt idx="51">
                  <c:v>61</c:v>
                </c:pt>
                <c:pt idx="52">
                  <c:v>62</c:v>
                </c:pt>
                <c:pt idx="53">
                  <c:v>63</c:v>
                </c:pt>
                <c:pt idx="54">
                  <c:v>64</c:v>
                </c:pt>
                <c:pt idx="55">
                  <c:v>65</c:v>
                </c:pt>
                <c:pt idx="56">
                  <c:v>66</c:v>
                </c:pt>
                <c:pt idx="57">
                  <c:v>67</c:v>
                </c:pt>
                <c:pt idx="58">
                  <c:v>68</c:v>
                </c:pt>
                <c:pt idx="59">
                  <c:v>69</c:v>
                </c:pt>
                <c:pt idx="60">
                  <c:v>70</c:v>
                </c:pt>
                <c:pt idx="61">
                  <c:v>71</c:v>
                </c:pt>
                <c:pt idx="62">
                  <c:v>72</c:v>
                </c:pt>
                <c:pt idx="63">
                  <c:v>73</c:v>
                </c:pt>
                <c:pt idx="64">
                  <c:v>74</c:v>
                </c:pt>
                <c:pt idx="65">
                  <c:v>75</c:v>
                </c:pt>
                <c:pt idx="66">
                  <c:v>76</c:v>
                </c:pt>
                <c:pt idx="67">
                  <c:v>77</c:v>
                </c:pt>
                <c:pt idx="68">
                  <c:v>78</c:v>
                </c:pt>
                <c:pt idx="69">
                  <c:v>79</c:v>
                </c:pt>
                <c:pt idx="70">
                  <c:v>80</c:v>
                </c:pt>
              </c:numCache>
            </c:numRef>
          </c:xVal>
          <c:yVal>
            <c:numRef>
              <c:f>'ELECTRON SPIN RESONANCE'!$E$14:$E$84</c:f>
              <c:numCache>
                <c:formatCode>General</c:formatCode>
                <c:ptCount val="71"/>
                <c:pt idx="15" formatCode="0.00E+00">
                  <c:v>9.6338408582918758E-4</c:v>
                </c:pt>
                <c:pt idx="20" formatCode="0.00E+00">
                  <c:v>1.1807849193570133E-3</c:v>
                </c:pt>
                <c:pt idx="25" formatCode="0.00E+00">
                  <c:v>1.3129305240503972E-3</c:v>
                </c:pt>
                <c:pt idx="30" formatCode="0.00E+00">
                  <c:v>1.5473824033451109E-3</c:v>
                </c:pt>
                <c:pt idx="35" formatCode="0.00E+00">
                  <c:v>1.6923162923636614E-3</c:v>
                </c:pt>
                <c:pt idx="40" formatCode="0.00E+00">
                  <c:v>1.9523447403087077E-3</c:v>
                </c:pt>
                <c:pt idx="45" formatCode="0.00E+00">
                  <c:v>2.097278629327258E-3</c:v>
                </c:pt>
                <c:pt idx="50" formatCode="0.00E+00">
                  <c:v>2.331730508621972E-3</c:v>
                </c:pt>
                <c:pt idx="55" formatCode="0.00E+00">
                  <c:v>2.4468250675484674E-3</c:v>
                </c:pt>
                <c:pt idx="60" formatCode="0.00E+00">
                  <c:v>2.7409556070272906E-3</c:v>
                </c:pt>
                <c:pt idx="65" formatCode="0.00E+00">
                  <c:v>2.890152257487563E-3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757D-4FD4-8165-33E490EA29E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968983008"/>
        <c:axId val="1"/>
      </c:scatterChart>
      <c:catAx>
        <c:axId val="968983008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400" b="0" i="0" u="none" strike="noStrike" kern="1200" baseline="0">
                    <a:solidFill>
                      <a:sysClr val="windowText" lastClr="000000"/>
                    </a:solidFill>
                    <a:latin typeface="Times New Roman" panose="02020603050405020304" pitchFamily="18" charset="0"/>
                    <a:ea typeface="+mn-ea"/>
                    <a:cs typeface="+mn-cs"/>
                  </a:defRPr>
                </a:pPr>
                <a:r>
                  <a:rPr lang="en-SG"/>
                  <a:t>frequency</a:t>
                </a:r>
              </a:p>
            </c:rich>
          </c:tx>
          <c:overlay val="0"/>
          <c:spPr>
            <a:noFill/>
            <a:ln w="25400">
              <a:noFill/>
            </a:ln>
          </c:spPr>
        </c:title>
        <c:numFmt formatCode="General" sourceLinked="1"/>
        <c:majorTickMark val="out"/>
        <c:minorTickMark val="out"/>
        <c:tickLblPos val="nextTo"/>
        <c:spPr>
          <a:noFill/>
          <a:ln w="6350" cap="flat" cmpd="sng" algn="ctr">
            <a:solidFill>
              <a:schemeClr val="tx1"/>
            </a:solidFill>
            <a:round/>
          </a:ln>
          <a:effectLst/>
        </c:spPr>
        <c:txPr>
          <a:bodyPr rot="0" vert="horz"/>
          <a:lstStyle/>
          <a:p>
            <a:pPr>
              <a:defRPr sz="1400" b="0" i="0" u="none" strike="noStrike" baseline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endParaRPr lang="en-US"/>
          </a:p>
        </c:txPr>
        <c:crossAx val="1"/>
        <c:crosses val="autoZero"/>
        <c:auto val="1"/>
        <c:lblAlgn val="ctr"/>
        <c:lblOffset val="100"/>
        <c:tickLblSkip val="5"/>
        <c:tickMarkSkip val="10"/>
        <c:noMultiLvlLbl val="0"/>
      </c:catAx>
      <c:valAx>
        <c:axId val="1"/>
        <c:scaling>
          <c:orientation val="minMax"/>
          <c:max val="4.000000000000001E-3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400" b="0" i="0" u="none" strike="noStrike" kern="1200" baseline="0">
                    <a:solidFill>
                      <a:sysClr val="windowText" lastClr="000000"/>
                    </a:solidFill>
                    <a:latin typeface="Times New Roman" panose="02020603050405020304" pitchFamily="18" charset="0"/>
                    <a:ea typeface="+mn-ea"/>
                    <a:cs typeface="+mn-cs"/>
                  </a:defRPr>
                </a:pPr>
                <a:r>
                  <a:rPr lang="en-SG"/>
                  <a:t> B0</a:t>
                </a:r>
              </a:p>
            </c:rich>
          </c:tx>
          <c:overlay val="0"/>
          <c:spPr>
            <a:noFill/>
            <a:ln w="25400">
              <a:noFill/>
            </a:ln>
          </c:spPr>
        </c:title>
        <c:numFmt formatCode="0.00E+00" sourceLinked="1"/>
        <c:majorTickMark val="out"/>
        <c:minorTickMark val="none"/>
        <c:tickLblPos val="nextTo"/>
        <c:spPr>
          <a:noFill/>
          <a:ln w="6350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ysClr val="windowText" lastClr="000000"/>
                </a:solidFill>
                <a:latin typeface="Times New Roman" panose="02020603050405020304" pitchFamily="18" charset="0"/>
                <a:ea typeface="+mn-ea"/>
                <a:cs typeface="+mn-cs"/>
              </a:defRPr>
            </a:pPr>
            <a:endParaRPr lang="en-US"/>
          </a:p>
        </c:txPr>
        <c:crossAx val="968983008"/>
        <c:crosses val="autoZero"/>
        <c:crossBetween val="between"/>
      </c:valAx>
      <c:spPr>
        <a:noFill/>
        <a:ln w="6350">
          <a:solidFill>
            <a:schemeClr val="tx1"/>
          </a:solidFill>
        </a:ln>
        <a:effectLst/>
      </c:spPr>
    </c:plotArea>
    <c:legend>
      <c:legendPos val="r"/>
      <c:layout>
        <c:manualLayout>
          <c:xMode val="edge"/>
          <c:yMode val="edge"/>
          <c:x val="0.53641001124859389"/>
          <c:y val="0.11766089291894061"/>
          <c:w val="0.25301711887924838"/>
          <c:h val="0.13126071418194496"/>
        </c:manualLayout>
      </c:layout>
      <c:overlay val="0"/>
      <c:spPr>
        <a:noFill/>
        <a:ln w="25400">
          <a:noFill/>
        </a:ln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baseline="0">
              <a:solidFill>
                <a:sysClr val="windowText" lastClr="000000"/>
              </a:solidFill>
              <a:latin typeface="Times New Roman" panose="02020603050405020304" pitchFamily="18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solidFill>
      <a:schemeClr val="bg1"/>
    </a:solidFill>
    <a:ln w="9525" cap="flat" cmpd="sng" algn="ctr">
      <a:noFill/>
      <a:round/>
    </a:ln>
    <a:effectLst/>
  </c:spPr>
  <c:txPr>
    <a:bodyPr/>
    <a:lstStyle/>
    <a:p>
      <a:pPr>
        <a:defRPr sz="1400" baseline="0">
          <a:solidFill>
            <a:sysClr val="windowText" lastClr="000000"/>
          </a:solidFill>
          <a:latin typeface="Times New Roman" panose="02020603050405020304" pitchFamily="18" charset="0"/>
        </a:defRPr>
      </a:pPr>
      <a:endParaRPr lang="en-US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DB0C39-2BE7-4E58-3D50-3593477422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5580087-F521-CAB2-EBD4-ACC1929EFB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449D54-F991-4CF5-71A4-0B7CC99B47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9B33B5-E859-4AED-B30E-1B0E9C33B127}" type="datetimeFigureOut">
              <a:rPr lang="en-US" smtClean="0"/>
              <a:t>8/17/2024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4A437E-3E83-61E4-A242-3061ABE8F7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C51A41-3C8B-14AB-8801-0484CBFBA2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DD162-5B29-43B5-ABDE-A46F8BDB65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99902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2C42C9-7030-F8CF-CB84-3523868BD9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19AAEA-2939-8025-532A-F32E0FF1CB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F06752-3174-4D2E-C514-9266843E9A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9B33B5-E859-4AED-B30E-1B0E9C33B127}" type="datetimeFigureOut">
              <a:rPr lang="en-US" smtClean="0"/>
              <a:t>8/17/2024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C4EAD6-081D-07F6-A511-10A9D798B3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A92034-9C06-A34B-ADE3-47BBD685A6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DD162-5B29-43B5-ABDE-A46F8BDB65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6624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D0873C-B6C1-DD37-43EA-DDB51839C1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69924E-6D26-FE50-C592-56F5D21EB9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B056DC-13C1-4809-A089-6CC2512FA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9B33B5-E859-4AED-B30E-1B0E9C33B127}" type="datetimeFigureOut">
              <a:rPr lang="en-US" smtClean="0"/>
              <a:t>8/17/2024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91C15E-1F7D-6512-8B6A-524EA9700D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C63C42-FE2C-7783-860A-58690E5556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DD162-5B29-43B5-ABDE-A46F8BDB65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14401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4C0EB0-7544-BB55-EF56-F3290F1FFC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9A32EE-FDC0-AF78-6BF0-C798D49F0AC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FDDE97A-89FC-61D6-695C-6D33892C87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9244FA-5469-7F8A-79FF-ED9F6EC721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9B33B5-E859-4AED-B30E-1B0E9C33B127}" type="datetimeFigureOut">
              <a:rPr lang="en-US" smtClean="0"/>
              <a:t>8/17/2024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942941-3B9F-18C9-8F5A-4DC8E0CD81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664870-2A66-6B8F-363B-4BA4D51ACE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DD162-5B29-43B5-ABDE-A46F8BDB65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15708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364E1E-EE07-EAB5-8FD1-947933C32F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42C6B9-79DC-582D-5ABD-CFF7EA6557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2143A3-9906-4701-D815-1B21C569CC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255ACD1-EF29-4153-1E5B-2AFD48CB904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372B906-C2A0-352B-BA86-CC191308595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04CF15C-41C9-25A4-5C67-1810A3CC0E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9B33B5-E859-4AED-B30E-1B0E9C33B127}" type="datetimeFigureOut">
              <a:rPr lang="en-US" smtClean="0"/>
              <a:t>8/17/2024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8BA4DAE-7806-309F-EE9E-AB3E1CAD19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61A266F-C730-C24E-68CB-17B7ED5BED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DD162-5B29-43B5-ABDE-A46F8BDB65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47031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A19965-542B-C2F1-7398-E4D343B643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26D0D4-2722-9E2A-DEE1-4786CEFE40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9B33B5-E859-4AED-B30E-1B0E9C33B127}" type="datetimeFigureOut">
              <a:rPr lang="en-US" smtClean="0"/>
              <a:t>8/17/2024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B468AB5-04BB-E58E-033F-347188D29B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97DFCF3-4E74-BE88-FA45-03B4A43A5A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DD162-5B29-43B5-ABDE-A46F8BDB65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94523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81642EA-F3E7-A930-6D3F-55C0313E47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9B33B5-E859-4AED-B30E-1B0E9C33B127}" type="datetimeFigureOut">
              <a:rPr lang="en-US" smtClean="0"/>
              <a:t>8/17/2024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5561BB6-44E3-A616-B13F-FA3751E04A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C73F9E-67F9-6BD1-6425-C5E2122BA8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DD162-5B29-43B5-ABDE-A46F8BDB65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96243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F5010F-B63E-A1BC-F855-F0EBFF1B55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37B4D4-D7B0-C2B7-BBB6-68ED0B82FE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77957B2-9997-4F81-02F9-C63E9FB0E6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3F8D5F-BBAA-E549-56C7-1357583CFE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9B33B5-E859-4AED-B30E-1B0E9C33B127}" type="datetimeFigureOut">
              <a:rPr lang="en-US" smtClean="0"/>
              <a:t>8/17/2024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4AB344-97B9-8CFA-229E-034533DDC7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8F23784-028F-180A-753C-E14AF35927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DD162-5B29-43B5-ABDE-A46F8BDB65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84166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7F5155-CA20-58B8-17DF-1D5A9371AD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108BB66-C84A-2937-7540-8FE8CE83C67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CAA2A4-786C-2AF9-763C-019FE6EC6C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123E55-1F42-1D42-EED5-156D9172B5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9B33B5-E859-4AED-B30E-1B0E9C33B127}" type="datetimeFigureOut">
              <a:rPr lang="en-US" smtClean="0"/>
              <a:t>8/17/2024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91A5D4-36D8-022A-33EA-0524AC9B1B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B75515-FFB2-9122-1324-F6CAC322A0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DD162-5B29-43B5-ABDE-A46F8BDB65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72133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8DB6C5-B6A6-7B26-82C7-68DC60C532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30324D-4E6C-CD2A-C347-524ACF0D78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20C560-3269-E477-EFFA-A163EC8E99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9B33B5-E859-4AED-B30E-1B0E9C33B127}" type="datetimeFigureOut">
              <a:rPr lang="en-US" smtClean="0"/>
              <a:t>8/17/2024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26EFB3-294E-C96A-2764-02321FF14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5308CF-4A66-DA02-2B05-713FDFBA8B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DD162-5B29-43B5-ABDE-A46F8BDB65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28231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06867CE-72AC-469B-2E31-C6FF13445F3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88C34DF-6920-AC6D-751D-E5BD361D90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DBB993-CD6C-1728-0DE1-6E715DDA11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9B33B5-E859-4AED-B30E-1B0E9C33B127}" type="datetimeFigureOut">
              <a:rPr lang="en-US" smtClean="0"/>
              <a:t>8/17/2024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4CE587-2FDC-CECF-456F-38A9A1F0EC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0BAFE2-3C32-9A18-6B53-10EF0ED44E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DD162-5B29-43B5-ABDE-A46F8BDB65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00933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206C687-3208-A22A-38A9-EBCDED59FF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CF904D-805E-7112-DEE3-162EDC0397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68C16D-FC02-694F-D112-789E24301D4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79B33B5-E859-4AED-B30E-1B0E9C33B127}" type="datetimeFigureOut">
              <a:rPr lang="en-US" smtClean="0"/>
              <a:t>8/17/2024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4584F4-1AC4-6373-8DFF-F00C1672F2D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D0257F-C8C7-8EA9-7CD0-17BAF7390F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B2DD162-5B29-43B5-ABDE-A46F8BDB65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48629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D647C6-08CA-42FE-2AEB-A1507453373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ELECTRON SPIN RESONANCE</a:t>
            </a:r>
            <a:endParaRPr lang="en-US" sz="32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F92DAE-F8D2-F3F7-EF23-23A54541099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Kondrachuk Yaroslav</a:t>
            </a:r>
          </a:p>
        </p:txBody>
      </p:sp>
    </p:spTree>
    <p:extLst>
      <p:ext uri="{BB962C8B-B14F-4D97-AF65-F5344CB8AC3E}">
        <p14:creationId xmlns:p14="http://schemas.microsoft.com/office/powerpoint/2010/main" val="29644670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8" name="Rectangle 1037">
            <a:extLst>
              <a:ext uri="{FF2B5EF4-FFF2-40B4-BE49-F238E27FC236}">
                <a16:creationId xmlns:a16="http://schemas.microsoft.com/office/drawing/2014/main" id="{352BEC0E-22F8-46D0-9632-375DB541B0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BD9CB59-9E60-7CF1-2318-BFC3324C18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9184"/>
            <a:ext cx="6894576" cy="1783080"/>
          </a:xfrm>
        </p:spPr>
        <p:txBody>
          <a:bodyPr anchor="b">
            <a:normAutofit/>
          </a:bodyPr>
          <a:lstStyle/>
          <a:p>
            <a:r>
              <a:rPr lang="en-US" sz="54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Objective: </a:t>
            </a:r>
            <a:endParaRPr lang="en-US" sz="5400" dirty="0"/>
          </a:p>
        </p:txBody>
      </p:sp>
      <p:sp>
        <p:nvSpPr>
          <p:cNvPr id="1040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8952" y="2395728"/>
            <a:ext cx="4243589" cy="18288"/>
          </a:xfrm>
          <a:custGeom>
            <a:avLst/>
            <a:gdLst>
              <a:gd name="connsiteX0" fmla="*/ 0 w 4243589"/>
              <a:gd name="connsiteY0" fmla="*/ 0 h 18288"/>
              <a:gd name="connsiteX1" fmla="*/ 478919 w 4243589"/>
              <a:gd name="connsiteY1" fmla="*/ 0 h 18288"/>
              <a:gd name="connsiteX2" fmla="*/ 957839 w 4243589"/>
              <a:gd name="connsiteY2" fmla="*/ 0 h 18288"/>
              <a:gd name="connsiteX3" fmla="*/ 1521630 w 4243589"/>
              <a:gd name="connsiteY3" fmla="*/ 0 h 18288"/>
              <a:gd name="connsiteX4" fmla="*/ 2212729 w 4243589"/>
              <a:gd name="connsiteY4" fmla="*/ 0 h 18288"/>
              <a:gd name="connsiteX5" fmla="*/ 2734084 w 4243589"/>
              <a:gd name="connsiteY5" fmla="*/ 0 h 18288"/>
              <a:gd name="connsiteX6" fmla="*/ 3255439 w 4243589"/>
              <a:gd name="connsiteY6" fmla="*/ 0 h 18288"/>
              <a:gd name="connsiteX7" fmla="*/ 4243589 w 4243589"/>
              <a:gd name="connsiteY7" fmla="*/ 0 h 18288"/>
              <a:gd name="connsiteX8" fmla="*/ 4243589 w 4243589"/>
              <a:gd name="connsiteY8" fmla="*/ 18288 h 18288"/>
              <a:gd name="connsiteX9" fmla="*/ 3594926 w 4243589"/>
              <a:gd name="connsiteY9" fmla="*/ 18288 h 18288"/>
              <a:gd name="connsiteX10" fmla="*/ 3073571 w 4243589"/>
              <a:gd name="connsiteY10" fmla="*/ 18288 h 18288"/>
              <a:gd name="connsiteX11" fmla="*/ 2552216 w 4243589"/>
              <a:gd name="connsiteY11" fmla="*/ 18288 h 18288"/>
              <a:gd name="connsiteX12" fmla="*/ 1903553 w 4243589"/>
              <a:gd name="connsiteY12" fmla="*/ 18288 h 18288"/>
              <a:gd name="connsiteX13" fmla="*/ 1212454 w 4243589"/>
              <a:gd name="connsiteY13" fmla="*/ 18288 h 18288"/>
              <a:gd name="connsiteX14" fmla="*/ 733535 w 4243589"/>
              <a:gd name="connsiteY14" fmla="*/ 18288 h 18288"/>
              <a:gd name="connsiteX15" fmla="*/ 0 w 4243589"/>
              <a:gd name="connsiteY15" fmla="*/ 18288 h 18288"/>
              <a:gd name="connsiteX16" fmla="*/ 0 w 4243589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6ABE37B-6A0A-1263-A2AA-664BBF73D79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40080" y="2706624"/>
                <a:ext cx="6894576" cy="3483864"/>
              </a:xfrm>
            </p:spPr>
            <p:txBody>
              <a:bodyPr>
                <a:normAutofit/>
              </a:bodyPr>
              <a:lstStyle/>
              <a:p>
                <a:pPr marL="0" marR="0" indent="0">
                  <a:spcBef>
                    <a:spcPts val="0"/>
                  </a:spcBef>
                  <a:spcAft>
                    <a:spcPts val="800"/>
                  </a:spcAft>
                  <a:buNone/>
                </a:pPr>
                <a:r>
                  <a:rPr lang="en-US" sz="1500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In this experiment, we investigate the phenomenon ELECTRON SPIN RESONANCE</a:t>
                </a:r>
                <a:r>
                  <a:rPr lang="uk-UA" sz="1500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. </a:t>
                </a:r>
                <a:endParaRPr lang="en-US" sz="1500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marL="0" marR="0" indent="0">
                  <a:spcBef>
                    <a:spcPts val="0"/>
                  </a:spcBef>
                  <a:spcAft>
                    <a:spcPts val="800"/>
                  </a:spcAft>
                  <a:buNone/>
                </a:pPr>
                <a:r>
                  <a:rPr lang="en-US" sz="1500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This effect is described by equation </a:t>
                </a:r>
              </a:p>
              <a:p>
                <a:pPr marL="0" marR="0" indent="0">
                  <a:spcBef>
                    <a:spcPts val="0"/>
                  </a:spcBef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500" i="1" kern="100" smtClean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∆</m:t>
                      </m:r>
                      <m:r>
                        <a:rPr lang="en-US" sz="1500" b="0" i="1" kern="100" smtClean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𝐸</m:t>
                      </m:r>
                      <m:r>
                        <a:rPr lang="en-US" sz="1500" b="0" i="1" kern="100" smtClean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sz="1500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h𝑓</m:t>
                      </m:r>
                      <m:r>
                        <a:rPr lang="en-US" sz="1500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5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5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n-US" sz="15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𝑠</m:t>
                          </m:r>
                        </m:sub>
                      </m:sSub>
                      <m:sSub>
                        <m:sSubPr>
                          <m:ctrlPr>
                            <a:rPr lang="en-US" sz="15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5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sz="15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𝐵</m:t>
                          </m:r>
                        </m:sub>
                      </m:sSub>
                      <m:d>
                        <m:dPr>
                          <m:ctrlPr>
                            <a:rPr lang="en-US" sz="15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500" i="1" kern="10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500" i="1" kern="10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en-US" sz="1500" i="1" kern="10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𝑚𝑜𝑑</m:t>
                              </m:r>
                            </m:sub>
                          </m:sSub>
                          <m:r>
                            <a:rPr lang="en-US" sz="15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1500" i="1" kern="10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500" i="1" kern="10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en-US" sz="1500" i="1" kern="10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1500" kern="100" dirty="0">
                  <a:effectLst/>
                  <a:latin typeface="Aptos" panose="020B000402020202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marR="0" indent="0">
                  <a:spcBef>
                    <a:spcPts val="0"/>
                  </a:spcBef>
                  <a:spcAft>
                    <a:spcPts val="800"/>
                  </a:spcAft>
                  <a:buNone/>
                </a:pPr>
                <a:r>
                  <a:rPr lang="en-US" sz="1500" kern="100" dirty="0">
                    <a:effectLst/>
                    <a:latin typeface="Aptos" panose="020B0004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where </a:t>
                </a:r>
                <a:r>
                  <a:rPr lang="en-US" sz="1500" kern="100" dirty="0">
                    <a:effectLst/>
                    <a:latin typeface="Aptos" panose="020B0004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</a:t>
                </a:r>
                <a:r>
                  <a:rPr lang="en-US" sz="1500" kern="100" baseline="-25000" dirty="0">
                    <a:effectLst/>
                    <a:latin typeface="Aptos" panose="020B0004020202020204" pitchFamily="34" charset="0"/>
                    <a:ea typeface="Times New Roman" panose="02020603050405020304" pitchFamily="18" charset="0"/>
                    <a:cs typeface="Aptos" panose="020B0004020202020204" pitchFamily="34" charset="0"/>
                  </a:rPr>
                  <a:t>B</a:t>
                </a:r>
                <a:r>
                  <a:rPr lang="en-US" sz="1500" kern="100" dirty="0">
                    <a:effectLst/>
                    <a:latin typeface="Aptos" panose="020B0004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is Bohr magneton, </a:t>
                </a:r>
                <a:r>
                  <a:rPr lang="en-US" sz="1500" kern="100" dirty="0" err="1">
                    <a:effectLst/>
                    <a:latin typeface="Aptos" panose="020B0004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g</a:t>
                </a:r>
                <a:r>
                  <a:rPr lang="en-US" sz="1500" kern="100" baseline="-25000" dirty="0" err="1">
                    <a:effectLst/>
                    <a:latin typeface="Aptos" panose="020B0004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s</a:t>
                </a:r>
                <a:r>
                  <a:rPr lang="en-US" sz="1500" kern="100" dirty="0">
                    <a:effectLst/>
                    <a:latin typeface="Aptos" panose="020B0004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is a constant, which is designated as the g-factor for the spin</a:t>
                </a:r>
                <a:r>
                  <a:rPr lang="uk-UA" sz="1500" kern="100" dirty="0">
                    <a:effectLst/>
                    <a:latin typeface="Aptos" panose="020B0004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1500" kern="100" dirty="0">
                    <a:effectLst/>
                    <a:latin typeface="Aptos" panose="020B0004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of the electron and </a:t>
                </a:r>
                <a:r>
                  <a:rPr lang="en-US" sz="1500" b="1" kern="100" dirty="0">
                    <a:effectLst/>
                    <a:latin typeface="Aptos" panose="020B0004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which we want to find for the given sample. </a:t>
                </a:r>
                <a:endParaRPr lang="uk-UA" sz="1500" b="1" kern="100" dirty="0">
                  <a:effectLst/>
                  <a:latin typeface="Aptos" panose="020B000402020202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marR="0" indent="0">
                  <a:spcBef>
                    <a:spcPts val="0"/>
                  </a:spcBef>
                  <a:spcAft>
                    <a:spcPts val="800"/>
                  </a:spcAft>
                  <a:buNone/>
                </a:pPr>
                <a:endParaRPr lang="uk-UA" sz="1500" kern="100" dirty="0">
                  <a:latin typeface="Aptos" panose="020B000402020202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marR="0" indent="0">
                  <a:spcBef>
                    <a:spcPts val="0"/>
                  </a:spcBef>
                  <a:spcAft>
                    <a:spcPts val="800"/>
                  </a:spcAft>
                  <a:buNone/>
                </a:pPr>
                <a:r>
                  <a:rPr lang="en-US" sz="1500" kern="100" dirty="0">
                    <a:effectLst/>
                    <a:latin typeface="Aptos" panose="020B0004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B</a:t>
                </a:r>
                <a:r>
                  <a:rPr lang="en-US" sz="1500" kern="100" baseline="-25000" dirty="0">
                    <a:effectLst/>
                    <a:latin typeface="Aptos" panose="020B0004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0 </a:t>
                </a:r>
                <a:r>
                  <a:rPr lang="en-US" sz="1500" kern="100" dirty="0">
                    <a:effectLst/>
                    <a:latin typeface="Aptos" panose="020B0004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is the homogeneous magnetic field in the Helmholtz coils is calculated using </a:t>
                </a:r>
                <a:r>
                  <a:rPr lang="en-US" sz="1500" kern="100" dirty="0" err="1">
                    <a:effectLst/>
                    <a:latin typeface="Aptos" panose="020B0004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Biot</a:t>
                </a:r>
                <a:r>
                  <a:rPr lang="en-US" sz="1500" kern="100" dirty="0">
                    <a:effectLst/>
                    <a:latin typeface="Aptos" panose="020B0004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-Savart's law:</a:t>
                </a:r>
                <a:endParaRPr lang="en-US" sz="1500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marL="0" marR="0" indent="0">
                  <a:spcBef>
                    <a:spcPts val="0"/>
                  </a:spcBef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5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uk-UA" sz="15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uk-UA" sz="15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</m:sSub>
                      <m:r>
                        <a:rPr lang="uk-UA" sz="1500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5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uk-UA" sz="15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uk-UA" sz="15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</m:sSub>
                      <m:sSup>
                        <m:sSupPr>
                          <m:ctrlPr>
                            <a:rPr lang="en-US" sz="15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uk-UA" sz="15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(</m:t>
                          </m:r>
                          <m:f>
                            <m:fPr>
                              <m:ctrlPr>
                                <a:rPr lang="en-US" sz="1500" i="1" kern="10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r>
                                <a:rPr lang="uk-UA" sz="1500" i="1" kern="10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4</m:t>
                              </m:r>
                            </m:num>
                            <m:den>
                              <m:r>
                                <a:rPr lang="uk-UA" sz="1500" i="1" kern="10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5</m:t>
                              </m:r>
                            </m:den>
                          </m:f>
                          <m:r>
                            <a:rPr lang="en-US" sz="15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)</m:t>
                          </m:r>
                        </m:e>
                        <m:sup>
                          <m:f>
                            <m:fPr>
                              <m:ctrlPr>
                                <a:rPr lang="en-US" sz="1500" i="1" kern="10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r>
                                <a:rPr lang="uk-UA" sz="1500" i="1" kern="10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3</m:t>
                              </m:r>
                            </m:num>
                            <m:den>
                              <m:r>
                                <a:rPr lang="uk-UA" sz="1500" i="1" kern="10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den>
                          </m:f>
                        </m:sup>
                      </m:sSup>
                      <m:f>
                        <m:fPr>
                          <m:ctrlPr>
                            <a:rPr lang="en-US" sz="15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uk-UA" sz="15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𝑛</m:t>
                          </m:r>
                        </m:num>
                        <m:den>
                          <m:r>
                            <a:rPr lang="uk-UA" sz="15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𝑅</m:t>
                          </m:r>
                        </m:den>
                      </m:f>
                      <m:r>
                        <a:rPr lang="uk-UA" sz="150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𝐼</m:t>
                      </m:r>
                    </m:oMath>
                  </m:oMathPara>
                </a14:m>
                <a:endParaRPr lang="en-US" sz="1500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marL="0" marR="0" indent="0">
                  <a:spcBef>
                    <a:spcPts val="0"/>
                  </a:spcBef>
                  <a:spcAft>
                    <a:spcPts val="800"/>
                  </a:spcAft>
                  <a:buNone/>
                </a:pPr>
                <a:r>
                  <a:rPr lang="en-US" sz="1500" kern="100" dirty="0">
                    <a:effectLst/>
                    <a:latin typeface="Aptos" panose="020B0004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And </a:t>
                </a:r>
                <a:r>
                  <a:rPr lang="en-US" sz="1500" kern="100" dirty="0" err="1">
                    <a:effectLst/>
                    <a:latin typeface="Aptos" panose="020B0004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B</a:t>
                </a:r>
                <a:r>
                  <a:rPr lang="en-US" sz="1500" kern="100" baseline="-25000" dirty="0" err="1">
                    <a:effectLst/>
                    <a:latin typeface="Aptos" panose="020B0004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mod</a:t>
                </a:r>
                <a:r>
                  <a:rPr lang="en-US" sz="1500" kern="100" dirty="0">
                    <a:effectLst/>
                    <a:latin typeface="Aptos" panose="020B0004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is HF coil </a:t>
                </a:r>
                <a:r>
                  <a:rPr lang="en-US" sz="1500" kern="100" dirty="0" err="1">
                    <a:effectLst/>
                    <a:latin typeface="Aptos" panose="020B0004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hich</a:t>
                </a:r>
                <a:r>
                  <a:rPr lang="en-US" sz="1500" kern="100" dirty="0">
                    <a:effectLst/>
                    <a:latin typeface="Aptos" panose="020B0004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is a part of a high-duty oscillating circuit. </a:t>
                </a:r>
                <a:endParaRPr lang="en-US" sz="1500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endParaRPr lang="en-US" sz="1500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6ABE37B-6A0A-1263-A2AA-664BBF73D79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40080" y="2706624"/>
                <a:ext cx="6894576" cy="3483864"/>
              </a:xfrm>
              <a:blipFill>
                <a:blip r:embed="rId2"/>
                <a:stretch>
                  <a:fillRect l="-354" t="-8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6" name="Picture 2">
            <a:extLst>
              <a:ext uri="{FF2B5EF4-FFF2-40B4-BE49-F238E27FC236}">
                <a16:creationId xmlns:a16="http://schemas.microsoft.com/office/drawing/2014/main" id="{7A081E5B-F1E0-D891-C798-A9D2497B52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863840" y="632502"/>
            <a:ext cx="4014216" cy="28233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2CFD299-462A-8420-F539-E29B10C1B3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63840" y="4143372"/>
            <a:ext cx="3995928" cy="2047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38769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8A35ED-13B4-5DEA-7D3B-2381C8360F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96B041-E985-9F08-C5EC-3E48D5D2E59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1154642"/>
          </a:xfrm>
        </p:spPr>
        <p:txBody>
          <a:bodyPr/>
          <a:lstStyle/>
          <a:p>
            <a:pPr marL="0" marR="0" indent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18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For different value of frequency of </a:t>
            </a:r>
            <a:r>
              <a:rPr lang="en-US" sz="1800" dirty="0" err="1"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sz="1800" baseline="-25000" dirty="0" err="1"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mod</a:t>
            </a:r>
            <a:r>
              <a:rPr lang="en-US" sz="18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and measure the value of DC current to get the image of resonance.</a:t>
            </a:r>
            <a:endParaRPr lang="en-U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E7CCA86-A3BD-D21F-3D12-3F6236E2DD8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24" t="27363" r="7366" b="5933"/>
          <a:stretch/>
        </p:blipFill>
        <p:spPr>
          <a:xfrm>
            <a:off x="897467" y="2940579"/>
            <a:ext cx="3683000" cy="3552296"/>
          </a:xfrm>
          <a:prstGeom prst="rect">
            <a:avLst/>
          </a:prstGeom>
        </p:spPr>
      </p:pic>
      <p:graphicFrame>
        <p:nvGraphicFramePr>
          <p:cNvPr id="20" name="Content Placeholder 19">
            <a:extLst>
              <a:ext uri="{FF2B5EF4-FFF2-40B4-BE49-F238E27FC236}">
                <a16:creationId xmlns:a16="http://schemas.microsoft.com/office/drawing/2014/main" id="{2E4059DD-ED84-0D31-03BB-6CE431333F97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10580617"/>
              </p:ext>
            </p:extLst>
          </p:nvPr>
        </p:nvGraphicFramePr>
        <p:xfrm>
          <a:off x="6172200" y="1507067"/>
          <a:ext cx="5334000" cy="492389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5017402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A2A001-0412-9427-2F35-BEBF1E6F52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i="0" dirty="0">
                <a:effectLst/>
              </a:rPr>
              <a:t>Summary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D933C6B-6FC8-CDC4-6DF0-ACA20C9526E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64733"/>
                <a:ext cx="10515600" cy="4712230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000" b="0" i="0" dirty="0">
                    <a:effectLst/>
                  </a:rPr>
                  <a:t>The model curves in Figure 1 were</a:t>
                </a:r>
                <a:br>
                  <a:rPr lang="en-US" sz="2000" dirty="0"/>
                </a:br>
                <a:r>
                  <a:rPr lang="en-US" sz="2000" b="0" i="0" dirty="0">
                    <a:effectLst/>
                  </a:rPr>
                  <a:t>calculated 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k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0.0090±0.0002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∗</m:t>
                    </m:r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−9</m:t>
                        </m:r>
                      </m:sup>
                    </m:sSup>
                  </m:oMath>
                </a14:m>
                <a:r>
                  <a:rPr lang="en-US" sz="2000" b="0" i="0" dirty="0">
                    <a:effectLst/>
                  </a:rPr>
                  <a:t>as fitting parameter.</a:t>
                </a:r>
                <a:endParaRPr lang="uk-UA" sz="2000" b="0" i="0" dirty="0">
                  <a:effectLst/>
                </a:endParaRPr>
              </a:p>
              <a:p>
                <a:pPr marL="0" indent="0">
                  <a:buNone/>
                </a:pPr>
                <a:r>
                  <a:rPr lang="en-US" sz="2000" dirty="0"/>
                  <a:t>Where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num>
                      <m:den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𝑔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sub>
                        </m:sSub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sub>
                        </m:sSub>
                      </m:den>
                    </m:f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→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num>
                      <m:den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sub>
                        </m:s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∗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den>
                    </m:f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uk-UA" sz="2000" b="0" i="1" smtClean="0"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uk-UA" sz="2000" b="0" i="1" smtClean="0">
                            <a:latin typeface="Cambria Math" panose="02040503050406030204" pitchFamily="18" charset="0"/>
                          </a:rPr>
                          <m:t>62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−34</m:t>
                        </m:r>
                      </m:num>
                      <m:den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9.24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−24∗0.009∗</m:t>
                        </m:r>
                        <m:sSup>
                          <m:sSup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10</m:t>
                            </m:r>
                          </m:e>
                          <m:sup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−9</m:t>
                            </m:r>
                          </m:sup>
                        </m:sSup>
                      </m:den>
                    </m:f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=(7.93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±</m:t>
                    </m:r>
                    <m:r>
                      <a:rPr lang="uk-UA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.18)</m:t>
                    </m:r>
                  </m:oMath>
                </a14:m>
                <a:endParaRPr lang="en-US" sz="2000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D933C6B-6FC8-CDC4-6DF0-ACA20C9526E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64733"/>
                <a:ext cx="10515600" cy="4712230"/>
              </a:xfrm>
              <a:blipFill>
                <a:blip r:embed="rId2"/>
                <a:stretch>
                  <a:fillRect l="-638" t="-11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369237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160</TotalTime>
  <Words>167</Words>
  <Application>Microsoft Office PowerPoint</Application>
  <PresentationFormat>Widescreen</PresentationFormat>
  <Paragraphs>18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Aptos</vt:lpstr>
      <vt:lpstr>Aptos Display</vt:lpstr>
      <vt:lpstr>Arial</vt:lpstr>
      <vt:lpstr>Cambria Math</vt:lpstr>
      <vt:lpstr>Office Theme</vt:lpstr>
      <vt:lpstr>ELECTRON SPIN RESONANCE</vt:lpstr>
      <vt:lpstr>Objective: </vt:lpstr>
      <vt:lpstr>Results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Kondrachuk Yaroslav</dc:creator>
  <cp:lastModifiedBy>Kondrachuk Yaroslav</cp:lastModifiedBy>
  <cp:revision>3</cp:revision>
  <dcterms:created xsi:type="dcterms:W3CDTF">2024-08-17T13:12:44Z</dcterms:created>
  <dcterms:modified xsi:type="dcterms:W3CDTF">2024-08-17T15:53:36Z</dcterms:modified>
</cp:coreProperties>
</file>